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17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23" r:id="rId11"/>
    <p:sldId id="31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2" autoAdjust="0"/>
    <p:restoredTop sz="94660"/>
  </p:normalViewPr>
  <p:slideViewPr>
    <p:cSldViewPr snapToGrid="0">
      <p:cViewPr>
        <p:scale>
          <a:sx n="59" d="100"/>
          <a:sy n="59" d="100"/>
        </p:scale>
        <p:origin x="9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9B25E-1325-4C30-A0EB-7986E89662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E4174-2528-4895-8AA7-C5B1A33FA4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accent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accent4">
                    <a:lumMod val="50000"/>
                  </a:schemeClr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12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0" t="26733" r="7568" b="24892"/>
          <a:stretch>
            <a:fillRect/>
          </a:stretch>
        </p:blipFill>
        <p:spPr>
          <a:xfrm>
            <a:off x="40640" y="126365"/>
            <a:ext cx="11934190" cy="6666230"/>
          </a:xfrm>
          <a:prstGeom prst="rect">
            <a:avLst/>
          </a:prstGeom>
        </p:spPr>
      </p:pic>
      <p:pic>
        <p:nvPicPr>
          <p:cNvPr id="13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876" y="3296828"/>
            <a:ext cx="4187371" cy="4187371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68910" y="1165225"/>
            <a:ext cx="12023725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800" b="1">
                <a:latin typeface="Britannic Bold" panose="020B0903060703020204" charset="0"/>
                <a:cs typeface="Britannic Bold" panose="020B0903060703020204" charset="0"/>
                <a:sym typeface="+mn-ea"/>
              </a:rPr>
              <a:t>Faculty of Information and Communication Technology</a:t>
            </a:r>
            <a:endParaRPr sz="4800" b="1">
              <a:latin typeface="Britannic Bold" panose="020B0903060703020204" charset="0"/>
              <a:cs typeface="Britannic Bold" panose="020B0903060703020204" charset="0"/>
              <a:sym typeface="+mn-ea"/>
            </a:endParaRPr>
          </a:p>
          <a:p>
            <a:pPr algn="ctr"/>
            <a:endParaRPr lang="en-US" altLang="en-GB" sz="3200" b="1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algn="ctr"/>
            <a:r>
              <a:rPr lang="en-US" altLang="en-GB" sz="3200" b="1">
                <a:latin typeface="Britannic Bold" panose="020B0903060703020204" charset="0"/>
                <a:cs typeface="Britannic Bold" panose="020B0903060703020204" charset="0"/>
              </a:rPr>
              <a:t>PROG 102: PRINCIPLES OF SOFTWARE ENGINEERING</a:t>
            </a:r>
            <a:endParaRPr lang="en-US" altLang="en-GB" sz="3200" b="1">
              <a:latin typeface="Britannic Bold" panose="020B0903060703020204" charset="0"/>
              <a:cs typeface="Britannic Bold" panose="020B0903060703020204" charset="0"/>
            </a:endParaRPr>
          </a:p>
          <a:p>
            <a:pPr algn="ctr"/>
            <a:r>
              <a:rPr lang="en-US" altLang="en-GB" sz="3200" b="1">
                <a:latin typeface="Britannic Bold" panose="020B0903060703020204" charset="0"/>
                <a:cs typeface="Britannic Bold" panose="020B0903060703020204" charset="0"/>
              </a:rPr>
              <a:t>Mr Santigie Foday Kamara </a:t>
            </a:r>
            <a:endParaRPr lang="en-US" altLang="en-GB" sz="3200" b="1">
              <a:latin typeface="Britannic Bold" panose="020B0903060703020204" charset="0"/>
              <a:cs typeface="Britannic Bold" panose="020B0903060703020204" charset="0"/>
            </a:endParaRPr>
          </a:p>
          <a:p>
            <a:pPr algn="ctr"/>
            <a:r>
              <a:rPr lang="en-US" altLang="en-GB" sz="3200" b="1">
                <a:latin typeface="Britannic Bold" panose="020B0903060703020204" charset="0"/>
                <a:cs typeface="Britannic Bold" panose="020B0903060703020204" charset="0"/>
              </a:rPr>
              <a:t> GROUP </a:t>
            </a:r>
            <a:r>
              <a:rPr lang="en-GB" altLang="en-US" sz="3200" b="1">
                <a:latin typeface="Britannic Bold" panose="020B0903060703020204" charset="0"/>
                <a:cs typeface="Britannic Bold" panose="020B0903060703020204" charset="0"/>
              </a:rPr>
              <a:t>2</a:t>
            </a:r>
            <a:endParaRPr lang="en-US" altLang="en-GB" sz="3200" b="1">
              <a:latin typeface="Britannic Bold" panose="020B0903060703020204" charset="0"/>
              <a:cs typeface="Britannic Bold" panose="020B0903060703020204" charset="0"/>
            </a:endParaRPr>
          </a:p>
          <a:p>
            <a:pPr algn="ctr"/>
            <a:r>
              <a:rPr sz="320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FINAL GROUP PRESENTATION</a:t>
            </a:r>
            <a:endParaRPr sz="320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algn="ctr"/>
            <a:endParaRPr sz="320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pPr algn="ctr"/>
            <a:endParaRPr lang="en-US" altLang="en-GB" sz="2800" b="1">
              <a:latin typeface="Britannic Bold" panose="020B0903060703020204" charset="0"/>
              <a:cs typeface="Britannic Bold" panose="020B0903060703020204" charset="0"/>
            </a:endParaRPr>
          </a:p>
          <a:p>
            <a:pPr algn="ctr"/>
            <a:endParaRPr lang="en-US" altLang="en-GB" sz="2800" b="1">
              <a:latin typeface="Britannic Bold" panose="020B0903060703020204" charset="0"/>
              <a:cs typeface="Britannic Bold" panose="020B0903060703020204" charset="0"/>
            </a:endParaRPr>
          </a:p>
          <a:p>
            <a:pPr algn="ctr"/>
            <a:endParaRPr lang="en-US" altLang="en-GB" sz="2800" b="1">
              <a:latin typeface="Britannic Bold" panose="020B0903060703020204" charset="0"/>
              <a:cs typeface="Britannic Bold" panose="020B0903060703020204" charset="0"/>
            </a:endParaRPr>
          </a:p>
        </p:txBody>
      </p: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3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2914015" y="810895"/>
            <a:ext cx="581152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6600">
                <a:latin typeface="Britannic Bold" panose="020B0903060703020204" charset="0"/>
                <a:cs typeface="Britannic Bold" panose="020B0903060703020204" charset="0"/>
              </a:rPr>
              <a:t>INTRODUCTION</a:t>
            </a:r>
            <a:endParaRPr lang="en-US" altLang="en-GB" sz="660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50925" y="1772285"/>
            <a:ext cx="9537700" cy="4010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GB" sz="2800" b="1">
                <a:latin typeface="Tahoma" panose="020B0604030504040204" charset="0"/>
                <a:cs typeface="Tahoma" panose="020B0604030504040204" charset="0"/>
                <a:sym typeface="+mn-ea"/>
              </a:rPr>
              <a:t>ServiceConnect Platform</a:t>
            </a:r>
            <a:endParaRPr lang="en-US" altLang="en-GB" sz="28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GB" sz="28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ServiceConnect is a digital platform that connects customers with trusted professionals. It allows users to search for services, communicate, book appointments, make payments, and leave reviews all in one place.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A Digital Public Good Connecting Customers with Professional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1177925" y="415925"/>
            <a:ext cx="735330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6600">
                <a:latin typeface="Britannic Bold" panose="020B0903060703020204" charset="0"/>
                <a:cs typeface="Britannic Bold" panose="020B0903060703020204" charset="0"/>
              </a:rPr>
              <a:t>Problem Statement</a:t>
            </a:r>
            <a:endParaRPr lang="en-US" altLang="en-GB" sz="660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35635" y="1682115"/>
            <a:ext cx="5188585" cy="4010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Customers struggle to find trusted professionals.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Professionals have difficulty reaching customers.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Booking and payment processes are often manual.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No centralized platform for different service categories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059805" y="1792605"/>
            <a:ext cx="5203190" cy="445706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13335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2327275" y="187960"/>
            <a:ext cx="5323205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400">
                <a:latin typeface="Britannic Bold" panose="020B0903060703020204" charset="0"/>
                <a:cs typeface="Britannic Bold" panose="020B0903060703020204" charset="0"/>
              </a:rPr>
              <a:t>Project Objectives</a:t>
            </a:r>
            <a:endParaRPr lang="en-US" altLang="en-GB" sz="440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64465" y="1214755"/>
            <a:ext cx="4559935" cy="4906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Build a platform that connects customers and professionals.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Specific Objectives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User registration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Service listings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Search functionality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Booking system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Payment system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Messaging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Reviews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849620" y="1341755"/>
            <a:ext cx="4559935" cy="4906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SDG Alignment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Focus on: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SDG 8 – Decent Work and Economic Growth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SDG 9 – Industry, Innovation and Infrastructure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Helps professionals find more customers.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Supports entrepreneurship.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Promotes digital innovation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88265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9" name="Rectangles 8"/>
          <p:cNvSpPr/>
          <p:nvPr/>
        </p:nvSpPr>
        <p:spPr>
          <a:xfrm>
            <a:off x="2354580" y="1353820"/>
            <a:ext cx="6864350" cy="575691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35635" y="415925"/>
            <a:ext cx="8583295" cy="1475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en-US" altLang="en-GB" sz="4400">
                <a:latin typeface="Britannic Bold" panose="020B0903060703020204" charset="0"/>
                <a:cs typeface="Britannic Bold" panose="020B0903060703020204" charset="0"/>
              </a:rPr>
              <a:t>SDLC Model</a:t>
            </a:r>
            <a:endParaRPr lang="en-US" altLang="en-GB" sz="4400">
              <a:latin typeface="Britannic Bold" panose="020B0903060703020204" charset="0"/>
              <a:cs typeface="Britannic Bold" panose="020B0903060703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1779905" y="117475"/>
            <a:ext cx="558546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400">
                <a:latin typeface="Britannic Bold" panose="020B0903060703020204" charset="0"/>
                <a:cs typeface="Britannic Bold" panose="020B0903060703020204" charset="0"/>
              </a:rPr>
              <a:t>System Architecture</a:t>
            </a:r>
            <a:endParaRPr lang="en-US" altLang="en-GB" sz="4400"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64540" y="1327150"/>
            <a:ext cx="5188585" cy="5043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buFont typeface="Wingdings" panose="05000000000000000000" charset="0"/>
              <a:buNone/>
            </a:pP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920115" y="118110"/>
            <a:ext cx="8081645" cy="656018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2569845" y="185420"/>
            <a:ext cx="579882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400">
                <a:solidFill>
                  <a:schemeClr val="tx1"/>
                </a:solidFill>
                <a:latin typeface="Britannic Bold" panose="020B0903060703020204" charset="0"/>
                <a:cs typeface="Britannic Bold" panose="020B0903060703020204" charset="0"/>
              </a:rPr>
              <a:t>UML Diagrams</a:t>
            </a:r>
            <a:endParaRPr lang="en-US" altLang="en-GB" sz="4400">
              <a:solidFill>
                <a:schemeClr val="tx1"/>
              </a:solidFill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866900" y="1118870"/>
            <a:ext cx="8719820" cy="50482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3055620" y="415925"/>
            <a:ext cx="969264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400">
                <a:solidFill>
                  <a:schemeClr val="tx1"/>
                </a:solidFill>
                <a:latin typeface="Britannic Bold" panose="020B0903060703020204" charset="0"/>
                <a:cs typeface="Britannic Bold" panose="020B0903060703020204" charset="0"/>
              </a:rPr>
              <a:t>Prototype</a:t>
            </a:r>
            <a:endParaRPr lang="en-US" altLang="en-GB" sz="4400">
              <a:solidFill>
                <a:schemeClr val="tx1"/>
              </a:solidFill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264160" y="1118870"/>
            <a:ext cx="7948295" cy="53975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8747760" y="1118870"/>
            <a:ext cx="2672080" cy="483489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2569845" y="185420"/>
            <a:ext cx="579882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4400">
                <a:solidFill>
                  <a:schemeClr val="tx1"/>
                </a:solidFill>
                <a:latin typeface="Britannic Bold" panose="020B0903060703020204" charset="0"/>
                <a:cs typeface="Britannic Bold" panose="020B0903060703020204" charset="0"/>
              </a:rPr>
              <a:t>Project Management</a:t>
            </a:r>
            <a:endParaRPr lang="en-US" altLang="en-GB" sz="4400">
              <a:solidFill>
                <a:schemeClr val="tx1"/>
              </a:solidFill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075690" y="1118870"/>
            <a:ext cx="9511030" cy="546608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35" y="-80010"/>
            <a:ext cx="12240260" cy="6883400"/>
            <a:chOff x="-31" y="0"/>
            <a:chExt cx="19276" cy="10840"/>
          </a:xfrm>
        </p:grpSpPr>
        <p:sp>
          <p:nvSpPr>
            <p:cNvPr id="2" name="Rectangle 1"/>
            <p:cNvSpPr/>
            <p:nvPr/>
          </p:nvSpPr>
          <p:spPr>
            <a:xfrm>
              <a:off x="610" y="655"/>
              <a:ext cx="18328" cy="43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br>
                <a:rPr lang="en-US" sz="4000" dirty="0" smtClean="0">
                  <a:latin typeface="Arial Black" panose="020B0A04020102020204" pitchFamily="34" charset="0"/>
                </a:rPr>
              </a:br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sz="4000" dirty="0" smtClean="0">
                <a:latin typeface="Arial Black" panose="020B0A04020102020204" pitchFamily="34" charset="0"/>
              </a:endParaRPr>
            </a:p>
            <a:p>
              <a:endParaRPr lang="en-US" b="1" dirty="0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969" y="1277"/>
              <a:ext cx="16793" cy="30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en-GB" altLang="en-US"/>
            </a:p>
          </p:txBody>
        </p:sp>
        <p:sp>
          <p:nvSpPr>
            <p:cNvPr id="4" name="Rectangles 3"/>
            <p:cNvSpPr/>
            <p:nvPr/>
          </p:nvSpPr>
          <p:spPr>
            <a:xfrm>
              <a:off x="-31" y="0"/>
              <a:ext cx="19277" cy="10841"/>
            </a:xfrm>
            <a:prstGeom prst="rect">
              <a:avLst/>
            </a:prstGeom>
            <a:gradFill>
              <a:gsLst>
                <a:gs pos="100000">
                  <a:schemeClr val="tx1"/>
                </a:gs>
                <a:gs pos="20000">
                  <a:schemeClr val="bg1"/>
                </a:gs>
                <a:gs pos="71000">
                  <a:schemeClr val="bg1"/>
                </a:gs>
                <a:gs pos="0">
                  <a:schemeClr val="tx1"/>
                </a:gs>
              </a:gsLst>
              <a:lin ang="8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GB" altLang="en-US"/>
            </a:p>
          </p:txBody>
        </p:sp>
      </p:grpSp>
      <p:pic>
        <p:nvPicPr>
          <p:cNvPr id="6" name="Picture 5" descr="logo limkokwing"/>
          <p:cNvPicPr>
            <a:picLocks noChangeAspect="1"/>
          </p:cNvPicPr>
          <p:nvPr/>
        </p:nvPicPr>
        <p:blipFill>
          <a:blip r:embed="rId1"/>
          <a:srcRect l="8381" t="30196" r="8664" b="32439"/>
          <a:stretch>
            <a:fillRect/>
          </a:stretch>
        </p:blipFill>
        <p:spPr>
          <a:xfrm>
            <a:off x="8900160" y="0"/>
            <a:ext cx="3341370" cy="111887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Right"/>
            <a:lightRig rig="threePt" dir="t"/>
          </a:scene3d>
        </p:spPr>
      </p:pic>
      <p:sp>
        <p:nvSpPr>
          <p:cNvPr id="8" name="Text Box 7"/>
          <p:cNvSpPr txBox="1"/>
          <p:nvPr/>
        </p:nvSpPr>
        <p:spPr>
          <a:xfrm>
            <a:off x="974090" y="810895"/>
            <a:ext cx="9692640" cy="1475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6000" b="1">
                <a:solidFill>
                  <a:schemeClr val="tx1"/>
                </a:solidFill>
                <a:latin typeface="Britannic Bold" panose="020B0903060703020204" charset="0"/>
                <a:cs typeface="Britannic Bold" panose="020B0903060703020204" charset="0"/>
              </a:rPr>
              <a:t>Conclusion</a:t>
            </a:r>
            <a:endParaRPr lang="en-US" altLang="en-GB" sz="6000" b="1">
              <a:solidFill>
                <a:schemeClr val="tx1"/>
              </a:solidFill>
              <a:latin typeface="Britannic Bold" panose="020B0903060703020204" charset="0"/>
              <a:cs typeface="Britannic Bold" panose="020B0903060703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572260" y="2132965"/>
            <a:ext cx="8496300" cy="4010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ServiceConnect solves a real problem.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Supports SDG 8 and SDG 9.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Provides an easy way to connect customers and professionals.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  <a:p>
            <a:pPr indent="0" algn="ctr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GB" sz="2000" b="1">
                <a:latin typeface="Tahoma" panose="020B0604030504040204" charset="0"/>
                <a:cs typeface="Tahoma" panose="020B0604030504040204" charset="0"/>
                <a:sym typeface="+mn-ea"/>
              </a:rPr>
              <a:t>Demonstrates software design principles from planning to prototype.</a:t>
            </a:r>
            <a:endParaRPr lang="en-US" altLang="en-GB" sz="2000" b="1">
              <a:latin typeface="Tahoma" panose="020B0604030504040204" charset="0"/>
              <a:cs typeface="Tahoma" panose="020B060403050404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WPS Presentation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Britannic Bold</vt:lpstr>
      <vt:lpstr>Wingdings</vt:lpstr>
      <vt:lpstr>Tahoma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 IN MEDICAL LABORATORY SCIENCE COURSE TITLE:  APPLIED/MEDICAL BIOLOGY</dc:title>
  <dc:creator>Windows User</dc:creator>
  <cp:lastModifiedBy>JohnMA Koroma</cp:lastModifiedBy>
  <cp:revision>50</cp:revision>
  <dcterms:created xsi:type="dcterms:W3CDTF">2026-02-02T00:04:00Z</dcterms:created>
  <dcterms:modified xsi:type="dcterms:W3CDTF">2026-07-01T10:58:20Z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2257FC60F29D4957AFDAFB7B0B267D1E_13</vt:lpwstr>
  </property>
  <property fmtid="{D5CDD505-2E9C-101B-9397-08002B2CF9AE}" pid="3" name="KSOProductBuildVer">
    <vt:lpwstr>2057-12.2.0.23196</vt:lpwstr>
  </property>
</Properties>
</file>